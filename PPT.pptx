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Crimson Pro Bold" panose="020B0604020202020204" charset="0"/>
      <p:regular r:id="rId15"/>
    </p:embeddedFont>
    <p:embeddedFont>
      <p:font typeface="Noto Serif Display ExtraCondensed Bold" panose="020B0604020202020204"/>
      <p:regular r:id="rId16"/>
    </p:embeddedFont>
    <p:embeddedFont>
      <p:font typeface="Noto Serif Display ExtraCondensed Bold Italics" panose="020B0604020202020204"/>
      <p:regular r:id="rId17"/>
    </p:embeddedFont>
    <p:embeddedFont>
      <p:font typeface="TT Hoves" panose="020B0604020202020204" charset="0"/>
      <p:regular r:id="rId18"/>
    </p:embeddedFont>
    <p:embeddedFont>
      <p:font typeface="TT Hove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975486" y="2265369"/>
            <a:ext cx="12337027" cy="4759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1"/>
              </a:lnSpc>
            </a:pPr>
            <a:r>
              <a:rPr lang="en-US" sz="8399" b="1">
                <a:solidFill>
                  <a:srgbClr val="48601C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DETEKSI ANOMALI PERILAKU PEMBELIAN LPG 3 KG DI PANGKALAN BERLIAN MENGGUNAKAN ARTIFICIAL NEURAL NETWORK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8069121"/>
            <a:ext cx="16230600" cy="1189179"/>
            <a:chOff x="0" y="0"/>
            <a:chExt cx="4274726" cy="313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313200"/>
            </a:xfrm>
            <a:custGeom>
              <a:avLst/>
              <a:gdLst/>
              <a:ahLst/>
              <a:cxnLst/>
              <a:rect l="l" t="t" r="r" b="b"/>
              <a:pathLst>
                <a:path w="4274726" h="313200">
                  <a:moveTo>
                    <a:pt x="11448" y="0"/>
                  </a:moveTo>
                  <a:lnTo>
                    <a:pt x="4263278" y="0"/>
                  </a:lnTo>
                  <a:cubicBezTo>
                    <a:pt x="4269601" y="0"/>
                    <a:pt x="4274726" y="5125"/>
                    <a:pt x="4274726" y="11448"/>
                  </a:cubicBezTo>
                  <a:lnTo>
                    <a:pt x="4274726" y="301752"/>
                  </a:lnTo>
                  <a:cubicBezTo>
                    <a:pt x="4274726" y="304788"/>
                    <a:pt x="4273520" y="307700"/>
                    <a:pt x="4271373" y="309846"/>
                  </a:cubicBezTo>
                  <a:cubicBezTo>
                    <a:pt x="4269226" y="311993"/>
                    <a:pt x="4266314" y="313200"/>
                    <a:pt x="4263278" y="313200"/>
                  </a:cubicBezTo>
                  <a:lnTo>
                    <a:pt x="11448" y="313200"/>
                  </a:lnTo>
                  <a:cubicBezTo>
                    <a:pt x="8412" y="313200"/>
                    <a:pt x="5500" y="311993"/>
                    <a:pt x="3353" y="309846"/>
                  </a:cubicBezTo>
                  <a:cubicBezTo>
                    <a:pt x="1206" y="307700"/>
                    <a:pt x="0" y="304788"/>
                    <a:pt x="0" y="301752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ln w="38100" cap="rnd">
              <a:solidFill>
                <a:srgbClr val="48601C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274726" cy="351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8723" y="8444777"/>
            <a:ext cx="6276599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Naila Hanifah | NIM. 2310817220016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5792" y="8444777"/>
            <a:ext cx="8928524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Muhammad Rizki Ramadhan | NIM. 2310817310008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81874" y="7424421"/>
            <a:ext cx="1010803" cy="48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oleh: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92677" y="8451762"/>
            <a:ext cx="1034622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&amp;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32787" y="2733945"/>
            <a:ext cx="6426513" cy="4936774"/>
            <a:chOff x="0" y="0"/>
            <a:chExt cx="904334" cy="694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4334" cy="694699"/>
            </a:xfrm>
            <a:custGeom>
              <a:avLst/>
              <a:gdLst/>
              <a:ahLst/>
              <a:cxnLst/>
              <a:rect l="l" t="t" r="r" b="b"/>
              <a:pathLst>
                <a:path w="904334" h="694699">
                  <a:moveTo>
                    <a:pt x="0" y="0"/>
                  </a:moveTo>
                  <a:lnTo>
                    <a:pt x="904334" y="0"/>
                  </a:lnTo>
                  <a:lnTo>
                    <a:pt x="904334" y="694699"/>
                  </a:lnTo>
                  <a:lnTo>
                    <a:pt x="0" y="694699"/>
                  </a:lnTo>
                  <a:close/>
                </a:path>
              </a:pathLst>
            </a:custGeom>
            <a:blipFill>
              <a:blip r:embed="rId2"/>
              <a:stretch>
                <a:fillRect l="-7650" r="-7650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6658784" y="406403"/>
            <a:ext cx="8348005" cy="82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0"/>
              </a:lnSpc>
              <a:spcBef>
                <a:spcPct val="0"/>
              </a:spcBef>
            </a:pPr>
            <a:r>
              <a:rPr lang="en-US" sz="49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Permasalahan &amp; Solusi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3337" y="2686320"/>
            <a:ext cx="6696774" cy="598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3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PERMASALAHAN MITRA (Pangkalan Berlian) 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LPG 3 kg bersubsidi sering ditimbun oleh oknum 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Pangkalan kesulitan mendeteksi pembeli berindikasi penimbunan 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Tidak ada sistem peringatan dini otomatis 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Penimbun merugikan masyarakat yang berhak menerima subsidi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just">
              <a:lnSpc>
                <a:spcPts val="3220"/>
              </a:lnSpc>
            </a:pPr>
            <a:r>
              <a:rPr lang="en-US" sz="23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SOLUSI YANG DITAWARKAN </a:t>
            </a:r>
          </a:p>
          <a:p>
            <a:pPr algn="just">
              <a:lnSpc>
                <a:spcPts val="3220"/>
              </a:lnSpc>
            </a:pPr>
            <a:r>
              <a:rPr lang="en-US" sz="23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Model Artificial Neural Network (ANN) untuk deteksi anomali; dengan otomatisasi pengamatan manual petugas tidak diperlukan sehingga penilaian terhadap penimbunan lebih objektif</a:t>
            </a:r>
          </a:p>
          <a:p>
            <a:pPr algn="just">
              <a:lnSpc>
                <a:spcPts val="3220"/>
              </a:lnSpc>
              <a:spcBef>
                <a:spcPct val="0"/>
              </a:spcBef>
            </a:pPr>
            <a:endParaRPr lang="en-US" sz="2300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1" name="Freeform 11"/>
          <p:cNvSpPr/>
          <p:nvPr/>
        </p:nvSpPr>
        <p:spPr>
          <a:xfrm rot="-5400000">
            <a:off x="15810152" y="8343938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 rot="-5400000">
            <a:off x="16126469" y="8456950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77402" y="497205"/>
            <a:ext cx="2733195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Profil Mitra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231" y="1997220"/>
            <a:ext cx="1265179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8601C"/>
                </a:solidFill>
                <a:latin typeface="Canva Sans"/>
                <a:ea typeface="Canva Sans"/>
                <a:cs typeface="Canva Sans"/>
                <a:sym typeface="Canva Sans"/>
              </a:rPr>
              <a:t>Penelitian ini bermitra dengan Pangkalan Berlian. Pangkalan ini terdaftar dengan Nomor Induk Berusaha (NIB) 070125893942001 dan merupakan sub-penyalur resmi LPG 3 kg bersubsidi dari agen PT. ABADI GUNUNG RAJA.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DF0880-426A-C40B-678B-917F9E831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9321"/>
              </p:ext>
            </p:extLst>
          </p:nvPr>
        </p:nvGraphicFramePr>
        <p:xfrm>
          <a:off x="3733800" y="3806419"/>
          <a:ext cx="9372600" cy="4004080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13470484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3054328574"/>
                    </a:ext>
                  </a:extLst>
                </a:gridCol>
              </a:tblGrid>
              <a:tr h="78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>
                          <a:solidFill>
                            <a:srgbClr val="48601C"/>
                          </a:solidFill>
                          <a:effectLst/>
                        </a:rPr>
                        <a:t>Nama Mitra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>
                          <a:solidFill>
                            <a:srgbClr val="48601C"/>
                          </a:solidFill>
                          <a:effectLst/>
                        </a:rPr>
                        <a:t>: Pangkalan Berlian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187270"/>
                  </a:ext>
                </a:extLst>
              </a:tr>
              <a:tr h="78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>
                          <a:solidFill>
                            <a:srgbClr val="48601C"/>
                          </a:solidFill>
                          <a:effectLst/>
                        </a:rPr>
                        <a:t>Alamat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2400">
                          <a:solidFill>
                            <a:srgbClr val="48601C"/>
                          </a:solidFill>
                          <a:effectLst/>
                        </a:rPr>
                        <a:t>: Jl. Belda Simp. Rahmat No. 76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995219"/>
                  </a:ext>
                </a:extLst>
              </a:tr>
              <a:tr h="85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>
                          <a:solidFill>
                            <a:srgbClr val="48601C"/>
                          </a:solidFill>
                          <a:effectLst/>
                        </a:rPr>
                        <a:t>Nomor Reg Pangkalan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>
                          <a:solidFill>
                            <a:srgbClr val="48601C"/>
                          </a:solidFill>
                          <a:effectLst/>
                        </a:rPr>
                        <a:t>: 70125893942001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118574"/>
                  </a:ext>
                </a:extLst>
              </a:tr>
              <a:tr h="78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 dirty="0">
                          <a:solidFill>
                            <a:srgbClr val="48601C"/>
                          </a:solidFill>
                          <a:effectLst/>
                        </a:rPr>
                        <a:t>Agen </a:t>
                      </a:r>
                      <a:r>
                        <a:rPr lang="en-ID" sz="2400" b="1" dirty="0" err="1">
                          <a:solidFill>
                            <a:srgbClr val="48601C"/>
                          </a:solidFill>
                          <a:effectLst/>
                        </a:rPr>
                        <a:t>Penyuplai</a:t>
                      </a:r>
                      <a:endParaRPr lang="en-ID" sz="2400" b="1" dirty="0">
                        <a:solidFill>
                          <a:srgbClr val="48601C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>
                          <a:solidFill>
                            <a:srgbClr val="48601C"/>
                          </a:solidFill>
                          <a:effectLst/>
                        </a:rPr>
                        <a:t>: PT. ABADI GUNUNG RAJA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16962"/>
                  </a:ext>
                </a:extLst>
              </a:tr>
              <a:tr h="787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>
                          <a:solidFill>
                            <a:srgbClr val="48601C"/>
                          </a:solidFill>
                          <a:effectLst/>
                        </a:rPr>
                        <a:t>Jenis Usaha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dirty="0">
                          <a:solidFill>
                            <a:srgbClr val="48601C"/>
                          </a:solidFill>
                          <a:effectLst/>
                        </a:rPr>
                        <a:t>: </a:t>
                      </a:r>
                      <a:r>
                        <a:rPr lang="en-ID" sz="2400" dirty="0" err="1">
                          <a:solidFill>
                            <a:srgbClr val="48601C"/>
                          </a:solidFill>
                          <a:effectLst/>
                        </a:rPr>
                        <a:t>Pangkalan</a:t>
                      </a:r>
                      <a:r>
                        <a:rPr lang="en-ID" sz="2400" dirty="0">
                          <a:solidFill>
                            <a:srgbClr val="48601C"/>
                          </a:solidFill>
                          <a:effectLst/>
                        </a:rPr>
                        <a:t> LPG 3 kg </a:t>
                      </a:r>
                      <a:r>
                        <a:rPr lang="en-ID" sz="2400" dirty="0" err="1">
                          <a:solidFill>
                            <a:srgbClr val="48601C"/>
                          </a:solidFill>
                          <a:effectLst/>
                        </a:rPr>
                        <a:t>bersubsidi</a:t>
                      </a:r>
                      <a:endParaRPr lang="en-ID" sz="2400" dirty="0">
                        <a:solidFill>
                          <a:srgbClr val="48601C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FFF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14951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65C94097-1A18-BFAA-8B23-52A461798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8533" y="2285999"/>
            <a:ext cx="208280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5400000">
            <a:off x="16254031" y="8540974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42048" y="588359"/>
            <a:ext cx="5439910" cy="787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8"/>
              </a:lnSpc>
            </a:pPr>
            <a:r>
              <a:rPr lang="en-US" sz="6375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Dataset &amp; Fitur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5202" y="1946453"/>
            <a:ext cx="7166442" cy="3453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Dataset:</a:t>
            </a: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Total </a:t>
            </a: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sampel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 214</a:t>
            </a:r>
          </a:p>
          <a:p>
            <a:pPr algn="just">
              <a:lnSpc>
                <a:spcPts val="3919"/>
              </a:lnSpc>
            </a:pP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Jumlah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fitur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23</a:t>
            </a:r>
          </a:p>
          <a:p>
            <a:pPr algn="just">
              <a:lnSpc>
                <a:spcPts val="3919"/>
              </a:lnSpc>
            </a:pPr>
            <a:endParaRPr lang="en-US" sz="2799" b="1" dirty="0">
              <a:solidFill>
                <a:srgbClr val="48601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3919"/>
              </a:lnSpc>
            </a:pP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Distribusi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label: </a:t>
            </a: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 (0)      : 169 </a:t>
            </a: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sampel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(79.0%)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Anomali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(1)     : 45 </a:t>
            </a:r>
            <a:r>
              <a:rPr lang="en-US" sz="2799" b="1" dirty="0" err="1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sampel</a:t>
            </a:r>
            <a:r>
              <a:rPr lang="en-US" sz="2799" b="1" dirty="0">
                <a:solidFill>
                  <a:srgbClr val="4860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(21.0%)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39712" y="1946453"/>
            <a:ext cx="630163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Fitur yang digunakan: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736D266-E365-FEBF-D0AD-2691F4E3E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250509"/>
              </p:ext>
            </p:extLst>
          </p:nvPr>
        </p:nvGraphicFramePr>
        <p:xfrm>
          <a:off x="7242048" y="2614933"/>
          <a:ext cx="9140952" cy="4888383"/>
        </p:xfrm>
        <a:graphic>
          <a:graphicData uri="http://schemas.openxmlformats.org/drawingml/2006/table">
            <a:tbl>
              <a:tblPr/>
              <a:tblGrid>
                <a:gridCol w="2892552">
                  <a:extLst>
                    <a:ext uri="{9D8B030D-6E8A-4147-A177-3AD203B41FA5}">
                      <a16:colId xmlns:a16="http://schemas.microsoft.com/office/drawing/2014/main" val="558409441"/>
                    </a:ext>
                  </a:extLst>
                </a:gridCol>
                <a:gridCol w="6248400">
                  <a:extLst>
                    <a:ext uri="{9D8B030D-6E8A-4147-A177-3AD203B41FA5}">
                      <a16:colId xmlns:a16="http://schemas.microsoft.com/office/drawing/2014/main" val="3341319038"/>
                    </a:ext>
                  </a:extLst>
                </a:gridCol>
              </a:tblGrid>
              <a:tr h="524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0">
                          <a:solidFill>
                            <a:srgbClr val="48601C"/>
                          </a:solidFill>
                          <a:effectLst/>
                        </a:rPr>
                        <a:t>Kelompok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b="0">
                          <a:solidFill>
                            <a:srgbClr val="48601C"/>
                          </a:solidFill>
                          <a:effectLst/>
                        </a:rPr>
                        <a:t>Fitur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921149"/>
                  </a:ext>
                </a:extLst>
              </a:tr>
              <a:tr h="5557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Aktivitas bulanan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bulan_aktif_dari_4, n_bulan_maks, n_bulan_tidak_aktif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488231"/>
                  </a:ext>
                </a:extLst>
              </a:tr>
              <a:tr h="524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Bulan 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frekuensi, total_tabung, rasio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443416"/>
                  </a:ext>
                </a:extLst>
              </a:tr>
              <a:tr h="649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Bulan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frekuensi, total_tabung, rasio, tidak_aktif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165368"/>
                  </a:ext>
                </a:extLst>
              </a:tr>
              <a:tr h="649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Bulan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frekuensi, total_tabung, rasio, tidak_aktif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423845"/>
                  </a:ext>
                </a:extLst>
              </a:tr>
              <a:tr h="649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Bulan 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frekuensi, total_tabung, rasio, tidak_aktif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56719"/>
                  </a:ext>
                </a:extLst>
              </a:tr>
              <a:tr h="6594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>
                          <a:solidFill>
                            <a:srgbClr val="48601C"/>
                          </a:solidFill>
                          <a:effectLst/>
                        </a:rPr>
                        <a:t>Agregat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800" dirty="0" err="1">
                          <a:solidFill>
                            <a:srgbClr val="48601C"/>
                          </a:solidFill>
                          <a:effectLst/>
                        </a:rPr>
                        <a:t>tren_rasio</a:t>
                      </a:r>
                      <a:r>
                        <a:rPr lang="en-ID" sz="2800" dirty="0">
                          <a:solidFill>
                            <a:srgbClr val="48601C"/>
                          </a:solidFill>
                          <a:effectLst/>
                        </a:rPr>
                        <a:t>, </a:t>
                      </a:r>
                      <a:r>
                        <a:rPr lang="en-ID" sz="2800" dirty="0" err="1">
                          <a:solidFill>
                            <a:srgbClr val="48601C"/>
                          </a:solidFill>
                          <a:effectLst/>
                        </a:rPr>
                        <a:t>std_rasio</a:t>
                      </a:r>
                      <a:r>
                        <a:rPr lang="en-ID" sz="2800" dirty="0">
                          <a:solidFill>
                            <a:srgbClr val="48601C"/>
                          </a:solidFill>
                          <a:effectLst/>
                        </a:rPr>
                        <a:t>, </a:t>
                      </a:r>
                      <a:r>
                        <a:rPr lang="en-ID" sz="2800" dirty="0" err="1">
                          <a:solidFill>
                            <a:srgbClr val="48601C"/>
                          </a:solidFill>
                          <a:effectLst/>
                        </a:rPr>
                        <a:t>max_rasio</a:t>
                      </a:r>
                      <a:r>
                        <a:rPr lang="en-ID" sz="2800" dirty="0">
                          <a:solidFill>
                            <a:srgbClr val="48601C"/>
                          </a:solidFill>
                          <a:effectLst/>
                        </a:rPr>
                        <a:t>, </a:t>
                      </a:r>
                      <a:r>
                        <a:rPr lang="en-ID" sz="2800" dirty="0" err="1">
                          <a:solidFill>
                            <a:srgbClr val="48601C"/>
                          </a:solidFill>
                          <a:effectLst/>
                        </a:rPr>
                        <a:t>tren_frekuensi</a:t>
                      </a:r>
                      <a:r>
                        <a:rPr lang="en-ID" sz="2800" dirty="0">
                          <a:solidFill>
                            <a:srgbClr val="48601C"/>
                          </a:solidFill>
                          <a:effectLst/>
                        </a:rPr>
                        <a:t>, total_tabung_4bln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63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560211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3E25B3E1-37EE-5D1C-779A-0DCCD14B5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851025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5400000">
            <a:off x="15824648" y="8159689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39433" y="497205"/>
            <a:ext cx="3370395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Metode ANN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7244" y="1727835"/>
            <a:ext cx="7353422" cy="753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A. ARSITEKTUR ANN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Arsitektur: Input(23) → Hidden1(64, ReLU) → Hidden2(32, ReLU) → Output(1, Sigmoid)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Total parameter: 1.665 (dapat dilatih)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Aktivasi hidden layer: ReLU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Aktivasi output layer: Sigmoid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Solver: Adam (Adaptive Moment Estimation)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B. HYPERPARAMETER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Learning rate initial: 0.001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L2 regularization (alpha): 0.001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Max iter: 500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Early stopping: Ya (validation_fraction=0.1, patience=20)</a:t>
            </a:r>
          </a:p>
          <a:p>
            <a:pPr algn="l">
              <a:lnSpc>
                <a:spcPts val="3359"/>
              </a:lnSpc>
            </a:pPr>
            <a:endParaRPr lang="en-US" sz="2399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C. PREPROCESSING &amp; VALIDASI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Normalisasi: MinMaxScaler [0,1]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Split data: 80% training, 20% testing (stratified)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1727835"/>
            <a:ext cx="6942189" cy="459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D. SMOTE (AUGMENTASI DATA)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Sebelum SMOTE: Normal=135, Anomali=36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Sesudah SMOTE: Normal=135, Anomali=135 (+99 sampel sintetis)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SMOTE hanya pada data training 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59"/>
              </a:lnSpc>
            </a:pPr>
            <a:r>
              <a:rPr lang="en-US" sz="23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E. CROSS VALIDATION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Metode: 10-Fold dengan SMOTE per fold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Mean Accuracy: 99.52%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 Std Deviation: 1.43%</a:t>
            </a:r>
          </a:p>
          <a:p>
            <a:pPr algn="just">
              <a:lnSpc>
                <a:spcPts val="3359"/>
              </a:lnSpc>
            </a:pPr>
            <a:endParaRPr lang="en-US" sz="2399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5400000">
            <a:off x="15885494" y="8381609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064234"/>
            <a:ext cx="7631065" cy="5337986"/>
          </a:xfrm>
          <a:custGeom>
            <a:avLst/>
            <a:gdLst/>
            <a:ahLst/>
            <a:cxnLst/>
            <a:rect l="l" t="t" r="r" b="b"/>
            <a:pathLst>
              <a:path w="7631065" h="5337986">
                <a:moveTo>
                  <a:pt x="0" y="0"/>
                </a:moveTo>
                <a:lnTo>
                  <a:pt x="7631065" y="0"/>
                </a:lnTo>
                <a:lnTo>
                  <a:pt x="7631065" y="5337986"/>
                </a:lnTo>
                <a:lnTo>
                  <a:pt x="0" y="53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90178" y="497205"/>
            <a:ext cx="1241257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Hasil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90178" y="2016609"/>
            <a:ext cx="10503164" cy="779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METRIK UTAMA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Accuracy : 81.40%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Precision : 52.94%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Recall : 100.00%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F1-Score : 69.23%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AUC-ROC : 100.00%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CONFUSION MATRIX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True Negative (TN) : 26 (Normal terprediksi Normal)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False Positive (FP) : 8 (Normal terprediksi Anomali)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False Negative (FN) : 0 (Anomali terprediksi Normal)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True Positive (TP) : 9 (Anomali terprediksi Anomali)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CLASSIFICATION REPORT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Kelas Normal (0) : Precision 1.00, Recall 0.76, F1 0.87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Kelas Anomali (1): Precision 0.53, Recall 1.00, F1 0.69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10-FOLD CROSS VALIDATION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Mean Accuracy : 99.52%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Std Deviation : 1.43%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Model stabil dan tidak overfitting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678445"/>
            <a:ext cx="7631065" cy="2594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INTERPRETASI HASIL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Recall 100%: Semua pembeli anomali (penimbun) terdeteksi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Precision 53%: Dari 17 prediksi anomali, 9 benar (8 false positive)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8 false positive masih bisa ditoleransi karena prioritas utama adalah tidak ada penimbun yang lolos</a:t>
            </a:r>
          </a:p>
          <a:p>
            <a:pPr algn="l">
              <a:lnSpc>
                <a:spcPts val="2940"/>
              </a:lnSpc>
            </a:pPr>
            <a:endParaRPr lang="en-US" sz="2100">
              <a:solidFill>
                <a:srgbClr val="48601C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5400000">
            <a:off x="16063135" y="8540974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5083" y="1760599"/>
            <a:ext cx="8539014" cy="7663765"/>
          </a:xfrm>
          <a:custGeom>
            <a:avLst/>
            <a:gdLst/>
            <a:ahLst/>
            <a:cxnLst/>
            <a:rect l="l" t="t" r="r" b="b"/>
            <a:pathLst>
              <a:path w="8539014" h="7663765">
                <a:moveTo>
                  <a:pt x="0" y="0"/>
                </a:moveTo>
                <a:lnTo>
                  <a:pt x="8539014" y="0"/>
                </a:lnTo>
                <a:lnTo>
                  <a:pt x="8539014" y="7663765"/>
                </a:lnTo>
                <a:lnTo>
                  <a:pt x="0" y="7663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67047" y="472440"/>
            <a:ext cx="128751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Hasil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62521" y="2671624"/>
            <a:ext cx="5947969" cy="482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Dashboard menunjukkan model ANN + SMOTE berhasil menyeimbangkan data dari 135:36 menjadi 135:135. Kurva loss menurun stabil dan AUC mencapai 1.0000, artinya model mampu memisahkan kelas Normal dan Anomali dengan sempurna. Confusion matrix mencatat recall 100% (seluruh anomali terdeteksi) dengan 8 false positive yang masih bisa ditoleransi. Hasil 10-fold cross validation (mean 99,52%, std 1,43%) membuktikan model stabil dan tidak overfitting, sehingga siap digunakan untuk mendeteksi indikasi penimbunan LPG 3 kg di Pangkalan Berlian.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90851" y="387350"/>
            <a:ext cx="5461760" cy="90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Manfaat Bagi Mitra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20067" y="1933342"/>
            <a:ext cx="11458756" cy="7792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2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DETEKSI DINI PENIMBUNAN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Model mampu mendeteksi 100% pembeli berindikasi penimbunan  (Recall = 100%) → Tidak ada penimbun yang lolos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2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EFISIENSI PENGAWASAN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Dari 43 sampel uji, hanya 17 pembeli yang perlu diperiksa  (8 FP + 9 TP) → Mitra cukup fokus pada 17 pembeli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22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OBJEKTIF &amp; KONSISTEN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Tidak bergantung pada subjektivitas petugas pangkalan  10-Fold CV std hanya 1.43% → hasil prediksi stabil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MENDUKUNG PROGRAM TEPAT SASARAN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Membantu distribusi LPG 3 kg subsidi tepat kepada  rumah tangga tidak mampu dan UMKM yang berhak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IMPLEMENTASI MUDAH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Input 23 fitur data pembeli → sistem langsung memberi  peringatan "NORMAL" atau "ANOMALI (Indikasi Penimbunan)"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</p:txBody>
      </p:sp>
      <p:sp>
        <p:nvSpPr>
          <p:cNvPr id="9" name="Freeform 9"/>
          <p:cNvSpPr/>
          <p:nvPr/>
        </p:nvSpPr>
        <p:spPr>
          <a:xfrm rot="-5400000">
            <a:off x="15528791" y="7816547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1" y="0"/>
                </a:lnTo>
                <a:lnTo>
                  <a:pt x="1434651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5400000">
            <a:off x="16186860" y="8193255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252068"/>
            <a:ext cx="4455890" cy="5941187"/>
          </a:xfrm>
          <a:custGeom>
            <a:avLst/>
            <a:gdLst/>
            <a:ahLst/>
            <a:cxnLst/>
            <a:rect l="l" t="t" r="r" b="b"/>
            <a:pathLst>
              <a:path w="4455890" h="5941187">
                <a:moveTo>
                  <a:pt x="0" y="0"/>
                </a:moveTo>
                <a:lnTo>
                  <a:pt x="4455890" y="0"/>
                </a:lnTo>
                <a:lnTo>
                  <a:pt x="4455890" y="5941187"/>
                </a:lnTo>
                <a:lnTo>
                  <a:pt x="0" y="59411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87721" y="2252068"/>
            <a:ext cx="4455890" cy="5941187"/>
          </a:xfrm>
          <a:custGeom>
            <a:avLst/>
            <a:gdLst/>
            <a:ahLst/>
            <a:cxnLst/>
            <a:rect l="l" t="t" r="r" b="b"/>
            <a:pathLst>
              <a:path w="4455890" h="5941187">
                <a:moveTo>
                  <a:pt x="0" y="0"/>
                </a:moveTo>
                <a:lnTo>
                  <a:pt x="4455890" y="0"/>
                </a:lnTo>
                <a:lnTo>
                  <a:pt x="4455890" y="5941187"/>
                </a:lnTo>
                <a:lnTo>
                  <a:pt x="0" y="59411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348461" y="2252068"/>
            <a:ext cx="4455890" cy="5941187"/>
          </a:xfrm>
          <a:custGeom>
            <a:avLst/>
            <a:gdLst/>
            <a:ahLst/>
            <a:cxnLst/>
            <a:rect l="l" t="t" r="r" b="b"/>
            <a:pathLst>
              <a:path w="4455890" h="5941187">
                <a:moveTo>
                  <a:pt x="0" y="0"/>
                </a:moveTo>
                <a:lnTo>
                  <a:pt x="4455890" y="0"/>
                </a:lnTo>
                <a:lnTo>
                  <a:pt x="4455890" y="5941187"/>
                </a:lnTo>
                <a:lnTo>
                  <a:pt x="0" y="5941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83890" y="497205"/>
            <a:ext cx="4053832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Dokumentasi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7984" y="8459955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Foto bersama mitra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7005" y="8462270"/>
            <a:ext cx="3117321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Foto lokasi pengambilan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16026" y="8464586"/>
            <a:ext cx="3117321" cy="90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Foto saat kegiatan pengambilan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7347" y="442913"/>
            <a:ext cx="10314631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>
                <a:solidFill>
                  <a:srgbClr val="48601C"/>
                </a:solidFill>
                <a:latin typeface="Noto Serif Display ExtraCondensed Bold"/>
                <a:ea typeface="Noto Serif Display ExtraCondensed Bold"/>
                <a:cs typeface="Noto Serif Display ExtraCondensed Bold"/>
                <a:sym typeface="Noto Serif Display ExtraCondensed Bold"/>
              </a:rPr>
              <a:t>Kesimpulan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8" name="Freeform 8"/>
          <p:cNvSpPr/>
          <p:nvPr/>
        </p:nvSpPr>
        <p:spPr>
          <a:xfrm rot="-5400000">
            <a:off x="15358103" y="7741205"/>
            <a:ext cx="1434652" cy="1434652"/>
          </a:xfrm>
          <a:custGeom>
            <a:avLst/>
            <a:gdLst/>
            <a:ahLst/>
            <a:cxnLst/>
            <a:rect l="l" t="t" r="r" b="b"/>
            <a:pathLst>
              <a:path w="1434652" h="1434652">
                <a:moveTo>
                  <a:pt x="0" y="0"/>
                </a:moveTo>
                <a:lnTo>
                  <a:pt x="1434652" y="0"/>
                </a:lnTo>
                <a:lnTo>
                  <a:pt x="1434652" y="1434652"/>
                </a:lnTo>
                <a:lnTo>
                  <a:pt x="0" y="1434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41986" y="2327676"/>
            <a:ext cx="11204028" cy="642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Model Artificial Neural Network dengan arsitektur Input(23) → Hidden1(64,ReLU) → Hidden2(32,ReLU) → Output(1,Sigmoid) berhasil dibangun dan dilatih menggunakan data 214 pembeli Pangkalan Berlian. Penerapan SMOTE berhasil menyeimbangkan data training dari 135 normal dan 36 anomali menjadi 135 dan 135. Model mencapai recall 100% yang berarti seluruh pembeli berindikasi penimbunan berhasil terdeteksi, dengan AUC-ROC 100% yang menunjukkan kemampuan pemisahan kelas sempurna. Hasil 10-fold cross validation mencatat mean accuracy 99,52% dengan standar deviasi 1,43% yang membuktikan model stabil dan tidak overfitting. Dengan demikian, model ANN + SMOTE yang dikembangkan siap digunakan untuk membantu Pangkalan Berlian dalam mendeteksi indikasi penimbunan LPG 3 kg secara otomatis, objektif, dan efisien.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422462"/>
            <a:ext cx="16230600" cy="0"/>
          </a:xfrm>
          <a:prstGeom prst="line">
            <a:avLst/>
          </a:prstGeom>
          <a:ln w="28575" cap="flat">
            <a:solidFill>
              <a:srgbClr val="48601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4141979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38810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4590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30761" y="638810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8601C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87361" y="3163455"/>
            <a:ext cx="13113279" cy="316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82"/>
              </a:lnSpc>
              <a:spcBef>
                <a:spcPct val="0"/>
              </a:spcBef>
            </a:pPr>
            <a:r>
              <a:rPr lang="en-US" sz="18487" b="1" i="1">
                <a:solidFill>
                  <a:srgbClr val="48601C"/>
                </a:solidFill>
                <a:latin typeface="Noto Serif Display ExtraCondensed Bold Italics"/>
                <a:ea typeface="Noto Serif Display ExtraCondensed Bold Italics"/>
                <a:cs typeface="Noto Serif Display ExtraCondensed Bold Italics"/>
                <a:sym typeface="Noto Serif Display ExtraCondensed Bold Italics"/>
              </a:rPr>
              <a:t>Thank You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8411737"/>
            <a:ext cx="16230600" cy="846563"/>
            <a:chOff x="0" y="0"/>
            <a:chExt cx="4274726" cy="22296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74726" cy="222963"/>
            </a:xfrm>
            <a:custGeom>
              <a:avLst/>
              <a:gdLst/>
              <a:ahLst/>
              <a:cxnLst/>
              <a:rect l="l" t="t" r="r" b="b"/>
              <a:pathLst>
                <a:path w="4274726" h="222963">
                  <a:moveTo>
                    <a:pt x="11448" y="0"/>
                  </a:moveTo>
                  <a:lnTo>
                    <a:pt x="4263278" y="0"/>
                  </a:lnTo>
                  <a:cubicBezTo>
                    <a:pt x="4269601" y="0"/>
                    <a:pt x="4274726" y="5125"/>
                    <a:pt x="4274726" y="11448"/>
                  </a:cubicBezTo>
                  <a:lnTo>
                    <a:pt x="4274726" y="211515"/>
                  </a:lnTo>
                  <a:cubicBezTo>
                    <a:pt x="4274726" y="214551"/>
                    <a:pt x="4273520" y="217463"/>
                    <a:pt x="4271373" y="219610"/>
                  </a:cubicBezTo>
                  <a:cubicBezTo>
                    <a:pt x="4269226" y="221757"/>
                    <a:pt x="4266314" y="222963"/>
                    <a:pt x="4263278" y="222963"/>
                  </a:cubicBezTo>
                  <a:lnTo>
                    <a:pt x="11448" y="222963"/>
                  </a:lnTo>
                  <a:cubicBezTo>
                    <a:pt x="5125" y="222963"/>
                    <a:pt x="0" y="217838"/>
                    <a:pt x="0" y="211515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ln w="38100" cap="rnd">
              <a:solidFill>
                <a:srgbClr val="48601C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274726" cy="261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846587" y="8616085"/>
            <a:ext cx="2950903" cy="39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65"/>
              </a:lnSpc>
              <a:spcBef>
                <a:spcPct val="0"/>
              </a:spcBef>
            </a:pPr>
            <a:r>
              <a:rPr lang="en-US" sz="2261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Machine Learning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9560" y="8616085"/>
            <a:ext cx="2950903" cy="39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65"/>
              </a:lnSpc>
              <a:spcBef>
                <a:spcPct val="0"/>
              </a:spcBef>
            </a:pPr>
            <a:r>
              <a:rPr lang="en-US" sz="2261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484590" y="8616085"/>
            <a:ext cx="1331188" cy="39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5"/>
              </a:lnSpc>
              <a:spcBef>
                <a:spcPct val="0"/>
              </a:spcBef>
            </a:pPr>
            <a:r>
              <a:rPr lang="en-US" sz="2261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-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36899" y="8616085"/>
            <a:ext cx="1331188" cy="390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5"/>
              </a:lnSpc>
              <a:spcBef>
                <a:spcPct val="0"/>
              </a:spcBef>
            </a:pPr>
            <a:r>
              <a:rPr lang="en-US" sz="2261" b="1">
                <a:solidFill>
                  <a:srgbClr val="48601C"/>
                </a:solidFill>
                <a:latin typeface="TT Hoves Bold"/>
                <a:ea typeface="TT Hoves Bold"/>
                <a:cs typeface="TT Hoves Bold"/>
                <a:sym typeface="TT Hoves Bold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1074</Words>
  <Application>Microsoft Office PowerPoint</Application>
  <PresentationFormat>Custom</PresentationFormat>
  <Paragraphs>174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TT Hoves</vt:lpstr>
      <vt:lpstr>Arial</vt:lpstr>
      <vt:lpstr>TT Hoves Bold</vt:lpstr>
      <vt:lpstr>Crimson Pro Bold</vt:lpstr>
      <vt:lpstr>Calibri</vt:lpstr>
      <vt:lpstr>Noto Serif Display ExtraCondensed Bold</vt:lpstr>
      <vt:lpstr>Noto Serif Display ExtraCondensed Bold Italics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cp:lastModifiedBy>NAILA HANIFAH</cp:lastModifiedBy>
  <cp:revision>3</cp:revision>
  <dcterms:created xsi:type="dcterms:W3CDTF">2006-08-16T00:00:00Z</dcterms:created>
  <dcterms:modified xsi:type="dcterms:W3CDTF">2026-06-01T15:18:28Z</dcterms:modified>
  <dc:identifier>DAHLOxxsYeA</dc:identifier>
</cp:coreProperties>
</file>